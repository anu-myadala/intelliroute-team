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0" b="1">
                <a:solidFill>
                  <a:srgbClr val="649CFF"/>
                </a:solidFill>
              </a:rPr>
              <a:t>IntelliRoute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FFFFFF"/>
                </a:solidFill>
              </a:rPr>
              <a:t>A Distributed Control Plane for Multi-LLM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AAAABB"/>
                </a:solidFill>
              </a:rPr>
              <a:t>CMPE 273 — Enterprise Distributed Systems  |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AAAABB"/>
                </a:solidFill>
              </a:rPr>
              <a:t>Anukrithi Myadala  ·  Larry Nguyen  ·  James Pham  ·  Surbhi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AAAABB"/>
                </a:solidFill>
              </a:rPr>
              <a:t>San José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649C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AAAABB"/>
                </a:solidFill>
              </a:rPr>
              <a:t>Why enterprises need a multi-LLM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>
                <a:solidFill>
                  <a:srgbClr val="649CFF"/>
                </a:solidFill>
              </a:rPr>
              <a:t>▸ </a:t>
            </a:r>
            <a:r>
              <a:rPr sz="1700">
                <a:solidFill>
                  <a:srgbClr val="FFFFFF"/>
                </a:solidFill>
              </a:rPr>
              <a:t>Organisations use multiple LLM providers (OpenAI, Anthropic, open-source)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>
                <a:solidFill>
                  <a:srgbClr val="649CFF"/>
                </a:solidFill>
              </a:rPr>
              <a:t>▸ </a:t>
            </a:r>
            <a:r>
              <a:rPr sz="1700">
                <a:solidFill>
                  <a:srgbClr val="FFFFFF"/>
                </a:solidFill>
              </a:rPr>
              <a:t>Each has different latency, cost, rate limits, and failure modes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>
                <a:solidFill>
                  <a:srgbClr val="649CFF"/>
                </a:solidFill>
              </a:rPr>
              <a:t>▸ </a:t>
            </a:r>
            <a:r>
              <a:rPr sz="1700">
                <a:solidFill>
                  <a:srgbClr val="FFFFFF"/>
                </a:solidFill>
              </a:rPr>
              <a:t>Every application team reinvents: retries, fallback, cost tracking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>
                <a:solidFill>
                  <a:srgbClr val="649CFF"/>
                </a:solidFill>
              </a:rPr>
              <a:t>▸ </a:t>
            </a:r>
            <a:r>
              <a:rPr sz="1700">
                <a:solidFill>
                  <a:srgbClr val="FFFFFF"/>
                </a:solidFill>
              </a:rPr>
              <a:t>No unified place to make routing decisions across heterogeneous workloads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>
                <a:solidFill>
                  <a:srgbClr val="649CFF"/>
                </a:solidFill>
              </a:rPr>
              <a:t>▸ </a:t>
            </a:r>
            <a:r>
              <a:rPr sz="1700">
                <a:solidFill>
                  <a:srgbClr val="FFFFFF"/>
                </a:solidFill>
              </a:rPr>
              <a:t>Costs escalate without per-tenant visibility or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4EC9B0"/>
                </a:solidFill>
              </a:rPr>
              <a:t>Without IntelliRoute:
  App A → OpenAI    (own retry logic)
  App B → Anthropic (own rate limiter)
  App C → Both      (hardcoded fallback)
With IntelliRoute:
  App A ┐
  App B ┤─→ IntelliRoute ─→ Best Provider
  App C ┘
  One control plane. Intent-aware. Self-healing.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649CFF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AAAABB"/>
                </a:solidFill>
              </a:rPr>
              <a:t>6 services, all Python/FastAPI, communicating over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FFFFFF"/>
                </a:solidFill>
              </a:rPr>
              <a:t>Client
  │
  ▼
Gateway (:8000)  ─ API-key auth, tenant rewriting, X-Request-Id
  │
  ▼
Router (:8001)   ─ Intent classify → Policy rank → Fallback loop
  ├──sync──▶ Rate Limiter (:8002)   Token-bucket, leader election (3 replicas)
  ├──sync──▶ Health Monitor (:8004) Circuit breakers, liveness polling
  └──async─▶ Cost Tracker (:8003)   Fire-and-forget events, per-tenant rollups
  │
  ▼
Mock LLM Providers
  mock-fast (:9001)   30ms, $0.002/1K   ─ interactive, code
  mock-smart (:9002)  120ms, $0.02/1K   ─ reasoning
  mock-cheap (:9003)  80ms, $0.0003/1K  ─ batch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649CFF"/>
                </a:solidFill>
              </a:rPr>
              <a:t>Request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AAAABB"/>
                </a:solidFill>
              </a:rPr>
              <a:t>What happens when a prompt arrives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649CFF"/>
                </a:solidFill>
              </a:rPr>
              <a:t>▸ </a:t>
            </a:r>
            <a:r>
              <a:rPr sz="1600">
                <a:solidFill>
                  <a:srgbClr val="FFFFFF"/>
                </a:solidFill>
              </a:rPr>
              <a:t>Gateway authenticates X-API-Key → maps to tenant_id (overwrites body for security)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649CFF"/>
                </a:solidFill>
              </a:rPr>
              <a:t>▸ </a:t>
            </a:r>
            <a:r>
              <a:rPr sz="1600">
                <a:solidFill>
                  <a:srgbClr val="FFFFFF"/>
                </a:solidFill>
              </a:rPr>
              <a:t>Gateway generates X-Request-Id (UUID4) for distributed tracing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649CFF"/>
                </a:solidFill>
              </a:rPr>
              <a:t>▸ </a:t>
            </a:r>
            <a:r>
              <a:rPr sz="1600">
                <a:solidFill>
                  <a:srgbClr val="FFFFFF"/>
                </a:solidFill>
              </a:rPr>
              <a:t>Router classifies intent: interactive / reasoning / batch / code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649CFF"/>
                </a:solidFill>
              </a:rPr>
              <a:t>▸ </a:t>
            </a:r>
            <a:r>
              <a:rPr sz="1600">
                <a:solidFill>
                  <a:srgbClr val="FFFFFF"/>
                </a:solidFill>
              </a:rPr>
              <a:t>Router fetches health snapshot from Health Monitor (circuit breaker states)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649CFF"/>
                </a:solidFill>
              </a:rPr>
              <a:t>▸ </a:t>
            </a:r>
            <a:r>
              <a:rPr sz="1600">
                <a:solidFill>
                  <a:srgbClr val="FFFFFF"/>
                </a:solidFill>
              </a:rPr>
              <a:t>Policy engine scores &amp; ranks all providers (4 axes, intent-specific weights)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649CFF"/>
                </a:solidFill>
              </a:rPr>
              <a:t>▸ </a:t>
            </a:r>
            <a:r>
              <a:rPr sz="1600">
                <a:solidFill>
                  <a:srgbClr val="FFFFFF"/>
                </a:solidFill>
              </a:rPr>
              <a:t>Fallback loop: check rate limit → call provider → if fail, try next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649CFF"/>
                </a:solidFill>
              </a:rPr>
              <a:t>▸ </a:t>
            </a:r>
            <a:r>
              <a:rPr sz="1600">
                <a:solidFill>
                  <a:srgbClr val="FFFFFF"/>
                </a:solidFill>
              </a:rPr>
              <a:t>On success: record feedback EMA, publish async cost event, return response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649CFF"/>
                </a:solidFill>
              </a:rPr>
              <a:t>▸ </a:t>
            </a:r>
            <a:r>
              <a:rPr sz="1600">
                <a:solidFill>
                  <a:srgbClr val="FFFFFF"/>
                </a:solidFill>
              </a:rPr>
              <a:t>Response includes: provider, model, latency, cost, fallback_used, degraded flags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649CFF"/>
                </a:solidFill>
              </a:rPr>
              <a:t>Distributed Systems Concepts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49CFF"/>
                          </a:solidFill>
                        </a:rPr>
                        <a:t>Course Topic</a:t>
                      </a:r>
                    </a:p>
                  </a:txBody>
                  <a:tcPr>
                    <a:solidFill>
                      <a:srgbClr val="1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49CFF"/>
                          </a:solidFill>
                        </a:rPr>
                        <a:t>Implementation</a:t>
                      </a:r>
                    </a:p>
                  </a:txBody>
                  <a:tcPr>
                    <a:solidFill>
                      <a:srgbClr val="1A1A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Service Discovery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ProviderRegistry — in-memory analogue of Consul/etcd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Sync + Async Comm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HTTP for routing decisions; fire-and-forget for cost events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Leader Election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Bully algorithm — 3 rate-limiter replicas, highest ID wins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Consistency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Strong for rate limits (single leader); eventual for costs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Fault Tolerance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Circuit breakers (3-state) + automatic fallback chain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Backpressure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Priority queue with load shedding (shed LOW at 80% depth)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Multi-Objective Opt.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Weighted scoring: latency, cost, capability, success rate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API-key auth at gateway; server-side tenant identity rewriting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Observability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Structured JSON logs, /snapshot endpoints, X-Request-Id tracing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649CFF"/>
                </a:solidFill>
              </a:rPr>
              <a:t>Intent-Aware Routing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AAAABB"/>
                </a:solidFill>
              </a:rPr>
              <a:t>Multi-objective scoring with intent-specific weight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4EC9B0"/>
                </a:solidFill>
              </a:rPr>
              <a:t>Intent Classification (Heuristic):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649CFF"/>
                </a:solidFill>
              </a:rPr>
              <a:t>▸ </a:t>
            </a:r>
            <a:r>
              <a:rPr sz="1400">
                <a:solidFill>
                  <a:srgbClr val="FFFFFF"/>
                </a:solidFill>
              </a:rPr>
              <a:t>Batch: "summarize the following", "extract", "batch"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649CFF"/>
                </a:solidFill>
              </a:rPr>
              <a:t>▸ </a:t>
            </a:r>
            <a:r>
              <a:rPr sz="1400">
                <a:solidFill>
                  <a:srgbClr val="FFFFFF"/>
                </a:solidFill>
              </a:rPr>
              <a:t>Code: "```", "def ", "traceback", regex(bug|error)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649CFF"/>
                </a:solidFill>
              </a:rPr>
              <a:t>▸ </a:t>
            </a:r>
            <a:r>
              <a:rPr sz="1400">
                <a:solidFill>
                  <a:srgbClr val="FFFFFF"/>
                </a:solidFill>
              </a:rPr>
              <a:t>Reasoning: "explain" + "step by step" + &gt;200 chars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649CFF"/>
                </a:solidFill>
              </a:rPr>
              <a:t>▸ </a:t>
            </a:r>
            <a:r>
              <a:rPr sz="1400">
                <a:solidFill>
                  <a:srgbClr val="FFFFFF"/>
                </a:solidFill>
              </a:rPr>
              <a:t>Default: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A54C"/>
                </a:solidFill>
              </a:rPr>
              <a:t>Score = Σ(weightₗ × scoreₗ) − anomaly_penalty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46304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49CFF"/>
                          </a:solidFill>
                        </a:rPr>
                        <a:t>Intent</a:t>
                      </a:r>
                    </a:p>
                  </a:txBody>
                  <a:tcPr>
                    <a:solidFill>
                      <a:srgbClr val="1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49CFF"/>
                          </a:solidFill>
                        </a:rPr>
                        <a:t>Latency</a:t>
                      </a:r>
                    </a:p>
                  </a:txBody>
                  <a:tcPr>
                    <a:solidFill>
                      <a:srgbClr val="1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49C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1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49C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1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49CFF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1A1A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Interactive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0.55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0.15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0.20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0.10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Reasoning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0.10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0.10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0.30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Batch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0.65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0.15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0.15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0.25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0.10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0.45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0.20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4572000"/>
            <a:ext cx="5303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</a:rPr>
              <a:t>Result:
  ▸ Interactive → mock-fast (latency-optimised)
  ▸ Reasoning  → mock-smart (capability-optimised)
  ▸ Batch      → mock-cheap (cost-optimised)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649CFF"/>
                </a:solidFill>
              </a:rPr>
              <a:t>Fault Tolerance &amp; Self-Healing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4EC9B0"/>
                </a:solidFill>
              </a:rPr>
              <a:t>Circuit Breaker (3-State Machine):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30352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</a:rPr>
              <a:t>CLOSED ──(3 failures)──▶ OPEN
  ▲                              │
  │                         (5s timeout)
  │                              │
  └──(2 successes)── HALF_OPEN ◀─┘
        │
  (any failure) ──▶ back to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AAABB"/>
                </a:solidFill>
              </a:rPr>
              <a:t>Sliding window: 20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4EC9B0"/>
                </a:solidFill>
              </a:rPr>
              <a:t>Automatic Fallback Chain: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Router ranks all providers by policy score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Iterates through ranked list: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  → Check rate limit (skip if exhausted)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  → Check circuit breaker (skip if open)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  → Call provider (5s timeout)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  → If fail: report to health monitor, try next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Response flags: fallback_used=true, degraded=true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All providers down? Degraded mode → structured 503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649CFF"/>
                </a:solidFill>
              </a:rPr>
              <a:t>Distributed Rate Limiting &amp; Leader 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4EC9B0"/>
                </a:solidFill>
              </a:rPr>
              <a:t>Token Bucket Algorithm: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Capacity = 10 tokens (burst size)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Refill rate = 1 token/sec (60 req/min steady-state)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Per (tenant, provider) pair — independent buckets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Continuous refill: tokens += elapsed × rate (capped)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Denied? Returns retry_after_ms to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A54C"/>
                </a:solidFill>
              </a:rPr>
              <a:t>Why token bucket?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AAABB"/>
                </a:solidFill>
              </a:rPr>
              <a:t>Fixed windows have the boundary problem (2x burst
at window edge). Token bucket allows controlled bursts
while enforcing a smooth steady-state 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4EC9B0"/>
                </a:solidFill>
              </a:rPr>
              <a:t>Bully Leader Election: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3 replicas: rl-0 (:8002), rl-1 (:8012), rl-2 (:8022)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Highest ID always wins (rl-2 = leader)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Leader sends heartbeats every 1 second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Followers: no heartbeat for 3s → trigger re-election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A54C"/>
                </a:solidFill>
              </a:rPr>
              <a:t>Consistency Model: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438912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49CFF"/>
                          </a:solidFill>
                        </a:rPr>
                        <a:t>Data Path</a:t>
                      </a:r>
                    </a:p>
                  </a:txBody>
                  <a:tcPr>
                    <a:solidFill>
                      <a:srgbClr val="1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49CFF"/>
                          </a:solidFill>
                        </a:rPr>
                        <a:t>Consistency</a:t>
                      </a:r>
                    </a:p>
                  </a:txBody>
                  <a:tcPr>
                    <a:solidFill>
                      <a:srgbClr val="1A1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Rate-limit tokens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Strong (single leader)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Cost rollups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Eventual (async fire-and-forget)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Circuit breakers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Per-instance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649CFF"/>
                </a:solidFill>
              </a:rPr>
              <a:t>Testing &amp;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AAAABB"/>
                </a:solidFill>
              </a:rPr>
              <a:t>42 tests — 35 unit + 7 integration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740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49CFF"/>
                          </a:solidFill>
                        </a:rPr>
                        <a:t>Test Suite</a:t>
                      </a:r>
                    </a:p>
                  </a:txBody>
                  <a:tcPr>
                    <a:solidFill>
                      <a:srgbClr val="1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49CFF"/>
                          </a:solidFill>
                        </a:rPr>
                        <a:t>Tests</a:t>
                      </a:r>
                    </a:p>
                  </a:txBody>
                  <a:tcPr>
                    <a:solidFill>
                      <a:srgbClr val="1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49CFF"/>
                          </a:solidFill>
                        </a:rPr>
                        <a:t>Coverage</a:t>
                      </a:r>
                    </a:p>
                  </a:txBody>
                  <a:tcPr>
                    <a:solidFill>
                      <a:srgbClr val="1A1A2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test_intent.py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Intent classifier edge cases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test_policy.py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Scoring + ranking verification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test_token_bucket.py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Refill, consume, edge cases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test_circuit_breaker.py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State transitions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test_registry.py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Register / deregister / lookup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test_accounting.py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Rollups + budget alerts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test_feedback.py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~7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EMA calculations, anomaly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test_queue.py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~7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Priority, shedding, caps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test_election.py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~7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Election, heartbeats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test_integration.py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Full 8-process stack over HTTP</a:t>
                      </a:r>
                    </a:p>
                  </a:txBody>
                  <a:tcPr>
                    <a:solidFill>
                      <a:srgbClr val="24243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4EC9B0"/>
                </a:solidFill>
              </a:rPr>
              <a:t>Observability: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Structured JSON logging (machine-parseable)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X-Request-Id tracing across all services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/snapshot endpoints for circuit breaker state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/feedback for per-provider EMA metrics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/queue/stats for backpressure monitoring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/election/status on each rate-limiter replica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/v1/cost/summary for per-tenant spend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Live dashboard (port 3000) polls all endpoints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649CFF"/>
                </a:solidFill>
              </a:rPr>
              <a:t>Live Demo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4EC9B0"/>
                </a:solidFill>
              </a:rPr>
              <a:t>Demo Flow: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Start stack: python3 scripts/start_stack.py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Open dashboard: http://localhost:3000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Send "Hi there!" → routes to mock-fast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Send reasoning prompt → routes to mock-smart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Send "Summarize..." → routes to mock-cheap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Force-fail mock-fast → auto-failover demo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Tighten rate limit → backpressure demo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Show cost panel + leader election panel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Run pytest — 42 tests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4EC9B0"/>
                </a:solidFill>
              </a:rPr>
              <a:t>Production Extensions: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Real Raft consensus for rate-limiter replication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Persistent storage (Redis / Postgres) — single-file swap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Learned intent classifier (fine-tuned small model)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649CFF"/>
                </a:solidFill>
              </a:rPr>
              <a:t>▸ </a:t>
            </a:r>
            <a:r>
              <a:rPr sz="1500">
                <a:solidFill>
                  <a:srgbClr val="FFFFFF"/>
                </a:solidFill>
              </a:rPr>
              <a:t>Real LLM provider adapters (OpenAI, Anthropic, vLLM)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A54C"/>
                </a:solidFill>
              </a:rPr>
              <a:t>Key Takeaway: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66344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</a:rPr>
              <a:t>IntelliRoute treats LLMs as distributed compute
resources behind a control plane — not as isolated
APIs. The same patterns (circuit breakers, leader
election, backpressure) that power Netflix and
Uber apply to the LLM orchestration problem.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